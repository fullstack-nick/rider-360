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4e3c52b4c54c37" /><Relationship Type="http://schemas.openxmlformats.org/officeDocument/2006/relationships/extended-properties" Target="/docProps/app.xml" Id="R67116eaa945b4549" /><Relationship Type="http://schemas.openxmlformats.org/officeDocument/2006/relationships/officeDocument" Target="/ppt/presentation.xml" Id="R0dcf00dca11140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50c7e7895e4bc1"/>
  </p:sldMasterIdLst>
  <p:notesMasterIdLst>
    <p:notesMasterId xmlns:r="http://schemas.openxmlformats.org/officeDocument/2006/relationships" r:id="R3ab30f3a131747cd"/>
  </p:notesMasterIdLst>
  <p:sldIdLst>
    <p:sldId xmlns:r="http://schemas.openxmlformats.org/officeDocument/2006/relationships" id="256" r:id="R820206fefadc46a8"/>
    <p:sldId xmlns:r="http://schemas.openxmlformats.org/officeDocument/2006/relationships" id="257" r:id="R41e62c06cb1041a8"/>
    <p:sldId xmlns:r="http://schemas.openxmlformats.org/officeDocument/2006/relationships" id="258" r:id="R489485fb43874260"/>
    <p:sldId xmlns:r="http://schemas.openxmlformats.org/officeDocument/2006/relationships" id="259" r:id="R70ab2f5eebfd44ec"/>
    <p:sldId xmlns:r="http://schemas.openxmlformats.org/officeDocument/2006/relationships" id="260" r:id="R88fcf588e1ec4ae3"/>
    <p:sldId xmlns:r="http://schemas.openxmlformats.org/officeDocument/2006/relationships" id="261" r:id="R404c0ea3ed154464"/>
    <p:sldId xmlns:r="http://schemas.openxmlformats.org/officeDocument/2006/relationships" id="262" r:id="R3b090acaf32740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7ecbc5c8594e14" /><Relationship Type="http://schemas.openxmlformats.org/officeDocument/2006/relationships/slideMaster" Target="/ppt/slideMasters/slideMaster1.xml" Id="Rd350c7e7895e4bc1" /><Relationship Type="http://schemas.openxmlformats.org/officeDocument/2006/relationships/notesMaster" Target="/ppt/notesMasters/notesMaster1.xml" Id="R3ab30f3a131747cd" /><Relationship Type="http://schemas.openxmlformats.org/officeDocument/2006/relationships/presProps" Target="/ppt/presProps.xml" Id="R42cc529866074abb" /><Relationship Type="http://schemas.openxmlformats.org/officeDocument/2006/relationships/tableStyles" Target="/ppt/tableStyles.xml" Id="Rabf6f72ac43b4ddf" /><Relationship Type="http://schemas.openxmlformats.org/officeDocument/2006/relationships/slide" Target="/ppt/slides/slide1.xml" Id="R820206fefadc46a8" /><Relationship Type="http://schemas.openxmlformats.org/officeDocument/2006/relationships/slide" Target="/ppt/slides/slide2.xml" Id="R41e62c06cb1041a8" /><Relationship Type="http://schemas.openxmlformats.org/officeDocument/2006/relationships/slide" Target="/ppt/slides/slide3.xml" Id="R489485fb43874260" /><Relationship Type="http://schemas.openxmlformats.org/officeDocument/2006/relationships/slide" Target="/ppt/slides/slide4.xml" Id="R70ab2f5eebfd44ec" /><Relationship Type="http://schemas.openxmlformats.org/officeDocument/2006/relationships/slide" Target="/ppt/slides/slide5.xml" Id="R88fcf588e1ec4ae3" /><Relationship Type="http://schemas.openxmlformats.org/officeDocument/2006/relationships/slide" Target="/ppt/slides/slide6.xml" Id="R404c0ea3ed154464" /><Relationship Type="http://schemas.openxmlformats.org/officeDocument/2006/relationships/slide" Target="/ppt/slides/slide7.xml" Id="R3b090acaf32740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82463b1e7c4e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5e28ffa2054a7d" /><Relationship Type="http://schemas.openxmlformats.org/officeDocument/2006/relationships/notesMaster" Target="/ppt/notesMasters/notesMaster1.xml" Id="Rdfdb77f0da1e46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d30c51199f4f20" /><Relationship Type="http://schemas.openxmlformats.org/officeDocument/2006/relationships/notesMaster" Target="/ppt/notesMasters/notesMaster1.xml" Id="R25d876c864e54c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1f1ae1cf2f46aa" /><Relationship Type="http://schemas.openxmlformats.org/officeDocument/2006/relationships/notesMaster" Target="/ppt/notesMasters/notesMaster1.xml" Id="Re329cd40ea9c46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2ed9dec8eb4ed9" /><Relationship Type="http://schemas.openxmlformats.org/officeDocument/2006/relationships/notesMaster" Target="/ppt/notesMasters/notesMaster1.xml" Id="R6571d55e720847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35b2dfbe384fc7" /><Relationship Type="http://schemas.openxmlformats.org/officeDocument/2006/relationships/notesMaster" Target="/ppt/notesMasters/notesMaster1.xml" Id="R35b397c6f7604b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c88cb32d98c46a6" /><Relationship Type="http://schemas.openxmlformats.org/officeDocument/2006/relationships/notesMaster" Target="/ppt/notesMasters/notesMaster1.xml" Id="Rdf983173aae642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e1b1fa51984d50" /><Relationship Type="http://schemas.openxmlformats.org/officeDocument/2006/relationships/notesMaster" Target="/ppt/notesMasters/notesMaster1.xml" Id="R3296c11391874f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docs/screenshots/metabase-hosted.png</a:t>
            </a:r>
          </a:p>
          <a:p xmlns:a="http://schemas.openxmlformats.org/drawingml/2006/main">
            <a:r>
              <a:t>- analyses/results/business_findings.json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analyses/results/business_findings.json</a:t>
            </a:r>
          </a:p>
          <a:p xmlns:a="http://schemas.openxmlformats.org/drawingml/2006/main">
            <a:r>
              <a:t>- analyses/results/sizepath_effects.json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Action: Checkout PM rolls back or hotfixes the affected path before incremental traffic spend.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analyses/funnel_investigation.sql</a:t>
            </a:r>
          </a:p>
          <a:p xmlns:a="http://schemas.openxmlformats.org/drawingml/2006/main">
            <a:r>
              <a:t>- analyses/results/funnel_investigation.csv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Decision: randomize CTA prominence; do not claim completion itself is causal.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analyses/sizepath_session_extract.sql</a:t>
            </a:r>
          </a:p>
          <a:p xmlns:a="http://schemas.openxmlformats.org/drawingml/2006/main">
            <a:r>
              <a:t>- analyses/results/sizepath_effects.json</a:t>
            </a:r>
          </a:p>
          <a:p xmlns:a="http://schemas.openxmlformats.org/drawingml/2006/main">
            <a:r>
              <a:t>- analyses/size_path_impact.ipynb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Action: Growth Lead freezes marginal scale, resets bids, and reports contribution after marketing by channel.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analyses/acquisition_quality.sql</a:t>
            </a:r>
          </a:p>
          <a:p xmlns:a="http://schemas.openxmlformats.org/drawingml/2006/main">
            <a:r>
              <a:t>- analyses/results/acquisition_quality.csv</a:t>
            </a:r>
          </a:p>
          <a:p xmlns:a="http://schemas.openxmlformats.org/drawingml/2006/main">
            <a:r>
              <a:t>- analyses/cohort_clv.sql</a:t>
            </a:r>
          </a:p>
          <a:p xmlns:a="http://schemas.openxmlformats.org/drawingml/2006/main">
            <a:r>
              <a:t>- analyses/results/cohort_clv.csv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€15K figure assumes €22 incremental contribution per compatible accessory order.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analyses/product_opportunity.sql</a:t>
            </a:r>
          </a:p>
          <a:p xmlns:a="http://schemas.openxmlformats.org/drawingml/2006/main">
            <a:r>
              <a:t>- analyses/results/product_opportunity.csv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requested: approve owners, sequencing, and the randomized SizePath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docs/executive_recommendations.md</a:t>
            </a:r>
          </a:p>
          <a:p xmlns:a="http://schemas.openxmlformats.org/drawingml/2006/main">
            <a:r>
              <a:t>- docs/experiment_spec.md</a:t>
            </a:r>
          </a:p>
          <a:p xmlns:a="http://schemas.openxmlformats.org/drawingml/2006/main">
            <a:r>
              <a:t>- analyses/results/business_findings.json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13fb97b43942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1a124fa47341a7" /><Relationship Type="http://schemas.openxmlformats.org/officeDocument/2006/relationships/slideLayout" Target="/ppt/slideLayouts/slideLayout1.xml" Id="R29dc7213ac6b49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dc7213ac6b49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bee0aa41d4245" /><Relationship Type="http://schemas.openxmlformats.org/officeDocument/2006/relationships/image" Target="/ppt/media/image.png" Id="Re08bf906c7294e82" /><Relationship Type="http://schemas.openxmlformats.org/officeDocument/2006/relationships/notesSlide" Target="/ppt/notesSlides/notesSlide1.xml" Id="R517133d3805a42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1c2be6ef554081" /><Relationship Type="http://schemas.openxmlformats.org/officeDocument/2006/relationships/notesSlide" Target="/ppt/notesSlides/notesSlide2.xml" Id="R6f8f6297a6c040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42324e26a4ba2" /><Relationship Type="http://schemas.openxmlformats.org/officeDocument/2006/relationships/chart" Target="/ppt/slides/charts/chart1.xml" Id="R89ba0a888ca04dbb" /><Relationship Type="http://schemas.openxmlformats.org/officeDocument/2006/relationships/notesSlide" Target="/ppt/notesSlides/notesSlide3.xml" Id="R0d9407535f954c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5e836fd9134d4b" /><Relationship Type="http://schemas.openxmlformats.org/officeDocument/2006/relationships/chart" Target="/ppt/slides/charts/chart2.xml" Id="R8ac9377b47e3492a" /><Relationship Type="http://schemas.openxmlformats.org/officeDocument/2006/relationships/notesSlide" Target="/ppt/notesSlides/notesSlide4.xml" Id="Re8cc95b1c0b648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7340895a6493b" /><Relationship Type="http://schemas.openxmlformats.org/officeDocument/2006/relationships/chart" Target="/ppt/slides/charts/chart3.xml" Id="Rf492d058c5794fcc" /><Relationship Type="http://schemas.openxmlformats.org/officeDocument/2006/relationships/notesSlide" Target="/ppt/notesSlides/notesSlide5.xml" Id="R5ee6dbbfdcbc45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1e56a93ef64667" /><Relationship Type="http://schemas.openxmlformats.org/officeDocument/2006/relationships/notesSlide" Target="/ppt/notesSlides/notesSlide6.xml" Id="R8629b956b8f94a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b820e68154ee3" /><Relationship Type="http://schemas.openxmlformats.org/officeDocument/2006/relationships/notesSlide" Target="/ppt/notesSlides/notesSlide7.xml" Id="R841abcb32af94169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FR mobile</c:v>
          </c:tx>
          <c:spPr>
            <a:ln xmlns:a="http://schemas.openxmlformats.org/drawingml/2006/main" w="38100">
              <a:solidFill>
                <a:srgbClr val="D1495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3D8DFF"/>
              </a:solidFill>
            </c:spPr>
          </c:marker>
          <c:cat>
            <c:strLit>
              <c:ptCount val="2"/>
              <c:pt idx="0">
                <c:v>Pre</c:v>
              </c:pt>
              <c:pt idx="1">
                <c:v>Post</c:v>
              </c:pt>
            </c:strLit>
          </c:cat>
          <c:val>
            <c:numLit>
              <c:formatCode>0"%"</c:formatCode>
              <c:ptCount val="2"/>
              <c:pt idx="0">
                <c:v>78</c:v>
              </c:pt>
              <c:pt idx="1">
                <c:v>53</c:v>
              </c:pt>
            </c:numLit>
          </c:val>
        </c:ser>
        <c:ser>
          <c:idx val="1"/>
          <c:order val="1"/>
          <c:tx>
            <c:v>DE/NL mobile control</c:v>
          </c:tx>
          <c:spPr>
            <a:ln xmlns:a="http://schemas.openxmlformats.org/drawingml/2006/main" w="38100">
              <a:solidFill>
                <a:srgbClr val="3D8DFF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D0EDFA"/>
              </a:solidFill>
            </c:spPr>
          </c:marker>
          <c:cat>
            <c:strLit>
              <c:ptCount val="2"/>
              <c:pt idx="0">
                <c:v>Pre</c:v>
              </c:pt>
              <c:pt idx="1">
                <c:v>Post</c:v>
              </c:pt>
            </c:strLit>
          </c:cat>
          <c:val>
            <c:numLit>
              <c:formatCode>0"%"</c:formatCode>
              <c:ptCount val="2"/>
              <c:pt idx="0">
                <c:v>81.4</c:v>
              </c:pt>
              <c:pt idx="1">
                <c:v>76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00000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90"/>
          <c:min val="4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000000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Observed estimate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Naive</c:v>
              </c:pt>
              <c:pt idx="1">
                <c:v>IPW</c:v>
              </c:pt>
              <c:pt idx="2">
                <c:v>Doubly robust</c:v>
              </c:pt>
            </c:strLit>
          </c:cat>
          <c:val>
            <c:numLit>
              <c:formatCode>0.0" pp"</c:formatCode>
              <c:ptCount val="3"/>
              <c:pt idx="0">
                <c:v>1.595</c:v>
              </c:pt>
              <c:pt idx="1">
                <c:v>1.594</c:v>
              </c:pt>
              <c:pt idx="2">
                <c:v>1.593</c:v>
              </c:pt>
            </c:numLit>
          </c:val>
        </c:ser>
        <c:ser>
          <c:idx val="1"/>
          <c:order val="1"/>
          <c:tx>
            <c:v>Known truth</c:v>
          </c:tx>
          <c:spPr>
            <a:solidFill xmlns:a="http://schemas.openxmlformats.org/drawingml/2006/main">
              <a:srgbClr val="2A9D8F"/>
            </a:solidFill>
          </c:spPr>
          <c:cat>
            <c:strLit>
              <c:ptCount val="3"/>
              <c:pt idx="0">
                <c:v>Naive</c:v>
              </c:pt>
              <c:pt idx="1">
                <c:v>IPW</c:v>
              </c:pt>
              <c:pt idx="2">
                <c:v>Doubly robust</c:v>
              </c:pt>
            </c:strLit>
          </c:cat>
          <c:val>
            <c:numLit>
              <c:formatCode>0.0" pp"</c:formatCode>
              <c:ptCount val="3"/>
              <c:pt idx="0">
                <c:v>1.2</c:v>
              </c:pt>
              <c:pt idx="1">
                <c:v>1.2</c:v>
              </c:pt>
              <c:pt idx="2">
                <c:v>1.2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0.0&quot; pp&quot;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0.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000000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Contribution before marketing (€M)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6"/>
              <c:pt idx="0">
                <c:v>Paid Search</c:v>
              </c:pt>
              <c:pt idx="1">
                <c:v>Paid Social</c:v>
              </c:pt>
              <c:pt idx="2">
                <c:v>Affiliate</c:v>
              </c:pt>
              <c:pt idx="3">
                <c:v>Email</c:v>
              </c:pt>
              <c:pt idx="4">
                <c:v>Organic</c:v>
              </c:pt>
              <c:pt idx="5">
                <c:v>Direct</c:v>
              </c:pt>
            </c:strLit>
          </c:cat>
          <c:val>
            <c:numLit>
              <c:formatCode>€0"M"</c:formatCode>
              <c:ptCount val="6"/>
              <c:pt idx="0">
                <c:v>2.41</c:v>
              </c:pt>
              <c:pt idx="1">
                <c:v>1.92</c:v>
              </c:pt>
              <c:pt idx="2">
                <c:v>0.95</c:v>
              </c:pt>
              <c:pt idx="3">
                <c:v>1.21</c:v>
              </c:pt>
              <c:pt idx="4">
                <c:v>3.53</c:v>
              </c:pt>
              <c:pt idx="5">
                <c:v>1.77</c:v>
              </c:pt>
            </c:numLit>
          </c:val>
        </c:ser>
        <c:ser>
          <c:idx val="1"/>
          <c:order val="1"/>
          <c:tx>
            <c:v>After marketing (€M)</c:v>
          </c:tx>
          <c:spPr>
            <a:solidFill xmlns:a="http://schemas.openxmlformats.org/drawingml/2006/main">
              <a:srgbClr val="D1495B"/>
            </a:solidFill>
          </c:spPr>
          <c:invertIfNegative val="0"/>
          <c:cat>
            <c:strLit>
              <c:ptCount val="6"/>
              <c:pt idx="0">
                <c:v>Paid Search</c:v>
              </c:pt>
              <c:pt idx="1">
                <c:v>Paid Social</c:v>
              </c:pt>
              <c:pt idx="2">
                <c:v>Affiliate</c:v>
              </c:pt>
              <c:pt idx="3">
                <c:v>Email</c:v>
              </c:pt>
              <c:pt idx="4">
                <c:v>Organic</c:v>
              </c:pt>
              <c:pt idx="5">
                <c:v>Direct</c:v>
              </c:pt>
            </c:strLit>
          </c:cat>
          <c:val>
            <c:numLit>
              <c:formatCode>€0"M"</c:formatCode>
              <c:ptCount val="6"/>
              <c:pt idx="0">
                <c:v>-13.64</c:v>
              </c:pt>
              <c:pt idx="1">
                <c:v>-10.17</c:v>
              </c:pt>
              <c:pt idx="2">
                <c:v>-4.06</c:v>
              </c:pt>
              <c:pt idx="3">
                <c:v>-0.94</c:v>
              </c:pt>
              <c:pt idx="4">
                <c:v>-0.82</c:v>
              </c:pt>
              <c:pt idx="5">
                <c:v>1.77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5"/>
          <c:min val="-1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€0&quot;M&quot;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000000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79317AD-3F43-4BF2-8991-63D05B1E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788A47C-3CBE-431D-964A-96ACA2A3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RIDER 360  /  EXECUTIVE DECISION BRIEF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AA9FDEFB-CF31-49CB-BE41-94260A2E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9" name="Picture-3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8bf906c7294e82"/>
          <a:srcRect xmlns:a="http://schemas.openxmlformats.org/drawingml/2006/main" l="15664" t="0" r="156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/>
          </a:prstGeom>
        </p:spPr>
      </p:pic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63C1867D-8069-47B6-89B6-158B80C1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Fix conversion leakage before scaling growth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Three decisions from 450,000 synthetic sessions · 2023–2025
Fictional case study — no real customer or company data</a:t>
            </a:r>
          </a:p>
        </p:txBody>
      </p:sp>
    </p:spTree>
    <p:extLst>
      <p:ext uri="{BB962C8B-B14F-4D97-AF65-F5344CB8AC3E}">
        <p14:creationId xmlns:p14="http://schemas.microsoft.com/office/powerpoint/2010/main" val="111138659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A0CECA41-4E7E-4BB4-AC5A-CF7219F0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DC9171E0-191B-42C7-8CEF-D5E9D500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9D0CA168-2020-416B-AE66-BE02D324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7B8F2CC7-5ABE-4600-8516-ADE4CCA2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5DDE34A3-B4FE-4865-836B-3E106673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Three decisions can reverse the biggest leaks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D24C9166-FFFF-40C5-B70B-137B247E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 mobile payment
controlled change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B02238E1-ADFB-47F5-B36A-DED9CC82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Adjusted SizePath
association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72D4C3A1-C4A9-49F7-B0B1-F126BCDC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Contribution after
marketing spend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6347177C-D238-41D9-9A15-0B409FF0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−19.5 pp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607C3741-DC06-48AE-8C59-CD2BF889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−€27.85M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9AF48E10-7BCB-4B97-BB3A-F20AC593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+1.59 pp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DB2FBE8F-25D7-4D6E-9D26-4EBEDF68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Decision order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Contain the verified checkout failure first, reset loss-making acquisition second, and test SizePath before scaling it.</a:t>
            </a:r>
          </a:p>
        </p:txBody>
      </p:sp>
    </p:spTree>
    <p:extLst>
      <p:ext uri="{BB962C8B-B14F-4D97-AF65-F5344CB8AC3E}">
        <p14:creationId xmlns:p14="http://schemas.microsoft.com/office/powerpoint/2010/main" val="5467385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41886D9-A044-4A49-89F9-2529302F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EB04DA9E-DF86-4C17-BF9E-931F2FB4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French mobile checkout broke in March</a:t>
            </a:r>
          </a:p>
        </p:txBody>
      </p:sp>
      <p:sp>
        <p:nvSpPr>
          <p:cNvPr id="3" name="Rounded-Rectangle-36-4">
            <a:extLst xmlns:a="http://schemas.openxmlformats.org/drawingml/2006/main">
              <a:ext uri="{FF2B5EF4-FFF2-40B4-BE49-F238E27FC236}">
                <a16:creationId xmlns:a16="http://schemas.microsoft.com/office/drawing/2014/main" id="{DC4E3829-6407-44F5-8024-642D9C0B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022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9-5">
            <a:extLst xmlns:a="http://schemas.openxmlformats.org/drawingml/2006/main">
              <a:ext uri="{FF2B5EF4-FFF2-40B4-BE49-F238E27FC236}">
                <a16:creationId xmlns:a16="http://schemas.microsoft.com/office/drawing/2014/main" id="{F2B2BE95-D914-4E6D-957B-632665DA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85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−19.5 pp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0C39B7DF-E8E4-4153-957B-B204290E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65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Difference-in-
differences</a:t>
            </a:r>
          </a:p>
        </p:txBody>
      </p:sp>
      <p:sp>
        <p:nvSpPr>
          <p:cNvPr id="6" name="Rounded-Rectangle-39-7">
            <a:extLst xmlns:a="http://schemas.openxmlformats.org/drawingml/2006/main">
              <a:ext uri="{FF2B5EF4-FFF2-40B4-BE49-F238E27FC236}">
                <a16:creationId xmlns:a16="http://schemas.microsoft.com/office/drawing/2014/main" id="{5D7A25FA-3AB2-4DA5-8DB1-071253FA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201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9-8">
            <a:extLst xmlns:a="http://schemas.openxmlformats.org/drawingml/2006/main">
              <a:ext uri="{FF2B5EF4-FFF2-40B4-BE49-F238E27FC236}">
                <a16:creationId xmlns:a16="http://schemas.microsoft.com/office/drawing/2014/main" id="{4C3563F1-86FD-4025-9A7B-C138501F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64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−2.0 pp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DA532483-62FD-492F-B130-EF018351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43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 desktop
change</a:t>
            </a:r>
          </a:p>
        </p:txBody>
      </p:sp>
      <p:sp>
        <p:nvSpPr>
          <p:cNvPr id="9" name="Content-Placeholder-2-10">
            <a:extLst xmlns:a="http://schemas.openxmlformats.org/drawingml/2006/main">
              <a:ext uri="{FF2B5EF4-FFF2-40B4-BE49-F238E27FC236}">
                <a16:creationId xmlns:a16="http://schemas.microsoft.com/office/drawing/2014/main" id="{62E3A99B-5E74-4CBD-B28B-9B8E048D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068" y="1955578"/>
            <a:ext cx="553983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Payment-to-purchase fell sharply after 10 March 2025 while desktop France and mobile controls remained comparatively stable.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385858" y="1254728"/>
          <a:ext xmlns:a="http://schemas.openxmlformats.org/drawingml/2006/main" cx="5534216" cy="5024533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9ba0a888ca04dbb"/>
          </a:graphicData>
        </a:graphic>
      </p:graphicFrame>
    </p:spTree>
    <p:extLst>
      <p:ext uri="{BB962C8B-B14F-4D97-AF65-F5344CB8AC3E}">
        <p14:creationId xmlns:p14="http://schemas.microsoft.com/office/powerpoint/2010/main" val="63058062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825997A-BE41-4577-BB02-3865849A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C53437C-DF16-4F7A-A363-484D7BD7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SizePath bias remains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A266E8AD-9387-4E7D-816F-04434D15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9F6B7D41-71C4-4C85-829B-5C1B7F58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+1.20 pp truth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Integrated structural effect planted in the generator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04ADCA20-8549-420A-83BB-96F409ED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393668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BD8DC9FE-3734-46A8-A988-87163056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688658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+1.59 pp adjusted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95% CI: 1.44–1.74 pp across 450,000 eligible sessions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538D36BC-AA55-4F3A-95AC-ADEC1F6B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8150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4EC55978-DF2D-453F-BECE-3B84739B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7648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0.39 pp residual bias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Latent intent remains after excellent observable balance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08718" y="1054132"/>
          <a:ext xmlns:a="http://schemas.openxmlformats.org/drawingml/2006/main" cx="5124164" cy="545201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c9377b47e3492a"/>
          </a:graphicData>
        </a:graphic>
      </p:graphicFrame>
    </p:spTree>
    <p:extLst>
      <p:ext uri="{BB962C8B-B14F-4D97-AF65-F5344CB8AC3E}">
        <p14:creationId xmlns:p14="http://schemas.microsoft.com/office/powerpoint/2010/main" val="43329618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5417DDB-1B10-4916-98DF-C5F5FEBC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07D33CE3-3294-47E0-9566-87A95CC4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Acquisition spend is destroying contribution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987D1A4E-E28E-4A20-B02E-347CA593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29" y="4072319"/>
            <a:ext cx="2133314" cy="9037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−€27.9M</a:t>
            </a:r>
          </a:p>
        </p:txBody>
      </p:sp>
      <p:sp>
        <p:nvSpPr>
          <p:cNvPr id="4" name="Content-Placeholder-15-5">
            <a:extLst xmlns:a="http://schemas.openxmlformats.org/drawingml/2006/main">
              <a:ext uri="{FF2B5EF4-FFF2-40B4-BE49-F238E27FC236}">
                <a16:creationId xmlns:a16="http://schemas.microsoft.com/office/drawing/2014/main" id="{E36D4F7F-5111-406A-A484-E889FF06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after
marketing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CB1B156F-DACA-4BF9-8C43-A07C68DF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403" y="4072319"/>
            <a:ext cx="2133314" cy="9037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€2,960</a:t>
            </a:r>
          </a:p>
        </p:txBody>
      </p:sp>
      <p:sp>
        <p:nvSpPr>
          <p:cNvPr id="6" name="Content-Placeholder-15-7">
            <a:extLst xmlns:a="http://schemas.openxmlformats.org/drawingml/2006/main">
              <a:ext uri="{FF2B5EF4-FFF2-40B4-BE49-F238E27FC236}">
                <a16:creationId xmlns:a16="http://schemas.microsoft.com/office/drawing/2014/main" id="{D6F6C033-8235-44CD-BFDC-32EEF905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83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Paid Search
CAC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D5359569-254C-49A0-9D84-687E0B26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041368"/>
            <a:ext cx="5526310" cy="5435060"/>
          </a:xfrm>
          <a:prstGeom xmlns:a="http://schemas.openxmlformats.org/drawingml/2006/main" prst="roundRect">
            <a:avLst>
              <a:gd name="adj" fmla="val 1402"/>
            </a:avLst>
          </a:prstGeom>
          <a:noFill xmlns:a="http://schemas.openxmlformats.org/drawingml/2006/main"/>
          <a:ln xmlns:a="http://schemas.openxmlformats.org/drawingml/2006/main" w="12668">
            <a:solidFill>
              <a:srgbClr val="000000"/>
            </a:solidFill>
            <a:prstDash val="solid"/>
          </a:ln>
        </p:spPr>
      </p:sp>
      <p:sp>
        <p:nvSpPr>
          <p:cNvPr id="8" name="Content-Placeholder-1-9">
            <a:extLst xmlns:a="http://schemas.openxmlformats.org/drawingml/2006/main">
              <a:ext uri="{FF2B5EF4-FFF2-40B4-BE49-F238E27FC236}">
                <a16:creationId xmlns:a16="http://schemas.microsoft.com/office/drawing/2014/main" id="{02A1D416-A7FF-4CB8-AA10-991CD019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1709261"/>
            <a:ext cx="5331619" cy="16141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889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Reset acquisition now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Paid Search and Paid Social account for most of the synthetic loss. Replace revenue-only ROAS with contribution after marketing and mature cohort value.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34460" y="1322451"/>
          <a:ext xmlns:a="http://schemas.openxmlformats.org/drawingml/2006/main" cx="5029771" cy="478459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492d058c5794fcc"/>
          </a:graphicData>
        </a:graphic>
      </p:graphicFrame>
    </p:spTree>
    <p:extLst>
      <p:ext uri="{BB962C8B-B14F-4D97-AF65-F5344CB8AC3E}">
        <p14:creationId xmlns:p14="http://schemas.microsoft.com/office/powerpoint/2010/main" val="31944483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E0016FA-77EA-431C-AE40-E549DE41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5768297-EFAD-4DAC-8C6A-5928F070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Compatible bundles are a low-risk win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1B7B0873-A566-4150-A02B-BBCC34A3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88C064CB-5204-4480-A827-49BD77C0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Ridge 24
8.1% vs 25.7% peer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1D59ACC4-746A-4B09-A71F-9F7FB103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381 incremental attach orders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Compatibility-aware denominator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Measure contribution per bundle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CE8F3381-CD51-498C-9787-5A1062CB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D392CBEC-84F0-406E-975B-B3441B49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Drift 20
8.3% vs 23.4% peer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84938CF0-B87E-46D2-A138-F1A0E8E9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317 incremental attach orders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Compatibility-aware denominator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Hold checkout conversion harmless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A62DA91C-DAD2-4A1C-91B6-CC39F2A2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Peer-rate opportunity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Two under-merchandised bikes trail their same-wheel-size peers by 15–18 pp. Closing the gap implies about 698 additional compatible attach orders and roughly €15K illustrative contribution.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Owner: Merchandising · Test compatible bundles and product-page placement.</a:t>
            </a:r>
          </a:p>
        </p:txBody>
      </p:sp>
    </p:spTree>
    <p:extLst>
      <p:ext uri="{BB962C8B-B14F-4D97-AF65-F5344CB8AC3E}">
        <p14:creationId xmlns:p14="http://schemas.microsoft.com/office/powerpoint/2010/main" val="82597131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910EE636-B1E7-4A0B-B2BC-D7139178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B9133D86-D487-4B3F-B637-72A281B9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Execute in sequence: contain, learn, then scale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F8302787-394C-4983-BBB1-45828D8E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AF0D4924-355E-4335-A691-4B6E3914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08721BD4-8D8D-49C8-AD6D-D894AEE4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7CC11C6A-237F-4A72-A93D-EC728762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0–2 WEEKS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270771F-B8CE-48B3-8D10-B592EA1A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2–6 WEEKS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029FC606-4465-46CB-B733-36ACD29F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6–12 WEEKS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BD25A010-413E-46E8-88AD-04475ACE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Learn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Launch persistent-user SizePath test. Ship compatible bundle placements.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36FF65CA-04CA-4D5C-9EE2-9E3A95BF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Contain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Fix FR mobile checkout. Freeze marginal paid scale. Establish daily guardrails.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6A3435E3-7D7E-42DD-9FC7-CC7159FF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Scale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Read ITT conversion and mature return guardrail. Reallocate spend by contribution.</a:t>
            </a:r>
          </a:p>
        </p:txBody>
      </p:sp>
    </p:spTree>
    <p:extLst>
      <p:ext uri="{BB962C8B-B14F-4D97-AF65-F5344CB8AC3E}">
        <p14:creationId xmlns:p14="http://schemas.microsoft.com/office/powerpoint/2010/main" val="19270936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2026-08-08T23:11:18.2700000Z</dcterms:created>
  <dcterms:modified xsi:type="dcterms:W3CDTF">2026-08-08T23:11:18.2710000Z</dcterms:modified>
</coreProperties>
</file>